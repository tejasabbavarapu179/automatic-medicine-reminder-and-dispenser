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Roboto Bold" charset="1" panose="02000000000000000000"/>
      <p:regular r:id="rId21"/>
    </p:embeddedFont>
    <p:embeddedFont>
      <p:font typeface="Roboto" charset="1" panose="02000000000000000000"/>
      <p:regular r:id="rId22"/>
    </p:embeddedFont>
    <p:embeddedFont>
      <p:font typeface="Leckerli One" charset="1" panose="02000503000000020003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13.pn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0.pn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4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E6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09560" y="3432661"/>
            <a:ext cx="12468880" cy="3388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12"/>
              </a:lnSpc>
            </a:pPr>
            <a:r>
              <a:rPr lang="en-US" b="true" sz="8140">
                <a:solidFill>
                  <a:srgbClr val="6B4431"/>
                </a:solidFill>
                <a:latin typeface="Roboto Bold"/>
                <a:ea typeface="Roboto Bold"/>
                <a:cs typeface="Roboto Bold"/>
                <a:sym typeface="Roboto Bold"/>
              </a:rPr>
              <a:t>AUTOMATIC </a:t>
            </a:r>
            <a:r>
              <a:rPr lang="en-US" b="true" sz="8140">
                <a:solidFill>
                  <a:srgbClr val="6B4431"/>
                </a:solidFill>
                <a:latin typeface="Roboto Bold"/>
                <a:ea typeface="Roboto Bold"/>
                <a:cs typeface="Roboto Bold"/>
                <a:sym typeface="Roboto Bold"/>
              </a:rPr>
              <a:t>MEDICINE </a:t>
            </a:r>
          </a:p>
          <a:p>
            <a:pPr algn="ctr">
              <a:lnSpc>
                <a:spcPts val="6512"/>
              </a:lnSpc>
            </a:pPr>
            <a:r>
              <a:rPr lang="en-US" b="true" sz="8140">
                <a:solidFill>
                  <a:srgbClr val="6B4431"/>
                </a:solidFill>
                <a:latin typeface="Roboto Bold"/>
                <a:ea typeface="Roboto Bold"/>
                <a:cs typeface="Roboto Bold"/>
                <a:sym typeface="Roboto Bold"/>
              </a:rPr>
              <a:t>REMINDER AND DISPENSER</a:t>
            </a:r>
          </a:p>
          <a:p>
            <a:pPr algn="ctr">
              <a:lnSpc>
                <a:spcPts val="6512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true" flipV="false" rot="0">
            <a:off x="-211950" y="-10477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4297025" y="629602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8039083"/>
            <a:ext cx="516220" cy="2057400"/>
          </a:xfrm>
          <a:custGeom>
            <a:avLst/>
            <a:gdLst/>
            <a:ahLst/>
            <a:cxnLst/>
            <a:rect r="r" b="b" t="t" l="l"/>
            <a:pathLst>
              <a:path h="2057400" w="516220">
                <a:moveTo>
                  <a:pt x="0" y="0"/>
                </a:moveTo>
                <a:lnTo>
                  <a:pt x="516220" y="0"/>
                </a:lnTo>
                <a:lnTo>
                  <a:pt x="51622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657548" y="293921"/>
            <a:ext cx="516220" cy="2057400"/>
          </a:xfrm>
          <a:custGeom>
            <a:avLst/>
            <a:gdLst/>
            <a:ahLst/>
            <a:cxnLst/>
            <a:rect r="r" b="b" t="t" l="l"/>
            <a:pathLst>
              <a:path h="2057400" w="516220">
                <a:moveTo>
                  <a:pt x="0" y="0"/>
                </a:moveTo>
                <a:lnTo>
                  <a:pt x="516220" y="0"/>
                </a:lnTo>
                <a:lnTo>
                  <a:pt x="51622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9077308"/>
            <a:ext cx="2716317" cy="1358159"/>
          </a:xfrm>
          <a:custGeom>
            <a:avLst/>
            <a:gdLst/>
            <a:ahLst/>
            <a:cxnLst/>
            <a:rect r="r" b="b" t="t" l="l"/>
            <a:pathLst>
              <a:path h="1358159" w="2716317">
                <a:moveTo>
                  <a:pt x="0" y="0"/>
                </a:moveTo>
                <a:lnTo>
                  <a:pt x="2716317" y="0"/>
                </a:lnTo>
                <a:lnTo>
                  <a:pt x="2716317" y="1358159"/>
                </a:lnTo>
                <a:lnTo>
                  <a:pt x="0" y="13581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432262" y="7074304"/>
            <a:ext cx="10864763" cy="493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36"/>
              </a:lnSpc>
            </a:pPr>
            <a:r>
              <a:rPr lang="en-US" sz="3736">
                <a:solidFill>
                  <a:srgbClr val="252930"/>
                </a:solidFill>
                <a:latin typeface="Roboto"/>
                <a:ea typeface="Roboto"/>
                <a:cs typeface="Roboto"/>
                <a:sym typeface="Roboto"/>
              </a:rPr>
              <a:t>Presented by S.Teja</a:t>
            </a:r>
          </a:p>
        </p:txBody>
      </p:sp>
      <p:sp>
        <p:nvSpPr>
          <p:cNvPr name="Freeform 9" id="9"/>
          <p:cNvSpPr/>
          <p:nvPr/>
        </p:nvSpPr>
        <p:spPr>
          <a:xfrm flipH="false" flipV="true" rot="0">
            <a:off x="14542983" y="-104775"/>
            <a:ext cx="2716317" cy="1358159"/>
          </a:xfrm>
          <a:custGeom>
            <a:avLst/>
            <a:gdLst/>
            <a:ahLst/>
            <a:cxnLst/>
            <a:rect r="r" b="b" t="t" l="l"/>
            <a:pathLst>
              <a:path h="1358159" w="2716317">
                <a:moveTo>
                  <a:pt x="0" y="1358159"/>
                </a:moveTo>
                <a:lnTo>
                  <a:pt x="2716317" y="1358159"/>
                </a:lnTo>
                <a:lnTo>
                  <a:pt x="2716317" y="0"/>
                </a:lnTo>
                <a:lnTo>
                  <a:pt x="0" y="0"/>
                </a:lnTo>
                <a:lnTo>
                  <a:pt x="0" y="135815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E6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60009" y="2697932"/>
            <a:ext cx="15613641" cy="6219480"/>
            <a:chOff x="0" y="0"/>
            <a:chExt cx="4112235" cy="16380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12235" cy="1638052"/>
            </a:xfrm>
            <a:custGeom>
              <a:avLst/>
              <a:gdLst/>
              <a:ahLst/>
              <a:cxnLst/>
              <a:rect r="r" b="b" t="t" l="l"/>
              <a:pathLst>
                <a:path h="1638052" w="4112235">
                  <a:moveTo>
                    <a:pt x="25288" y="0"/>
                  </a:moveTo>
                  <a:lnTo>
                    <a:pt x="4086947" y="0"/>
                  </a:lnTo>
                  <a:cubicBezTo>
                    <a:pt x="4100913" y="0"/>
                    <a:pt x="4112235" y="11322"/>
                    <a:pt x="4112235" y="25288"/>
                  </a:cubicBezTo>
                  <a:lnTo>
                    <a:pt x="4112235" y="1612764"/>
                  </a:lnTo>
                  <a:cubicBezTo>
                    <a:pt x="4112235" y="1619471"/>
                    <a:pt x="4109570" y="1625903"/>
                    <a:pt x="4104828" y="1630646"/>
                  </a:cubicBezTo>
                  <a:cubicBezTo>
                    <a:pt x="4100085" y="1635388"/>
                    <a:pt x="4093654" y="1638052"/>
                    <a:pt x="4086947" y="1638052"/>
                  </a:cubicBezTo>
                  <a:lnTo>
                    <a:pt x="25288" y="1638052"/>
                  </a:lnTo>
                  <a:cubicBezTo>
                    <a:pt x="11322" y="1638052"/>
                    <a:pt x="0" y="1626731"/>
                    <a:pt x="0" y="1612764"/>
                  </a:cubicBezTo>
                  <a:lnTo>
                    <a:pt x="0" y="25288"/>
                  </a:lnTo>
                  <a:cubicBezTo>
                    <a:pt x="0" y="11322"/>
                    <a:pt x="11322" y="0"/>
                    <a:pt x="25288" y="0"/>
                  </a:cubicBezTo>
                  <a:close/>
                </a:path>
              </a:pathLst>
            </a:custGeom>
            <a:solidFill>
              <a:srgbClr val="C0B3A0">
                <a:alpha val="20784"/>
              </a:srgbClr>
            </a:solidFill>
            <a:ln w="47625" cap="rnd">
              <a:solidFill>
                <a:srgbClr val="000000">
                  <a:alpha val="20784"/>
                </a:srgbClr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112235" cy="16761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336375" y="3657169"/>
            <a:ext cx="6008465" cy="4777554"/>
            <a:chOff x="0" y="0"/>
            <a:chExt cx="8011287" cy="6370072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304800"/>
              <a:ext cx="8011287" cy="1129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884753" indent="-442376" lvl="1">
                <a:lnSpc>
                  <a:spcPts val="8195"/>
                </a:lnSpc>
                <a:buFont typeface="Arial"/>
                <a:buChar char="•"/>
              </a:pPr>
              <a:r>
                <a:rPr lang="en-US" sz="4097">
                  <a:solidFill>
                    <a:srgbClr val="252930"/>
                  </a:solidFill>
                  <a:latin typeface="Roboto"/>
                  <a:ea typeface="Roboto"/>
                  <a:cs typeface="Roboto"/>
                  <a:sym typeface="Roboto"/>
                </a:rPr>
                <a:t>Introduction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102855"/>
              <a:ext cx="8011287" cy="52672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884753" indent="-442376" lvl="1">
                <a:lnSpc>
                  <a:spcPts val="8195"/>
                </a:lnSpc>
                <a:buFont typeface="Arial"/>
                <a:buChar char="•"/>
              </a:pPr>
              <a:r>
                <a:rPr lang="en-US" sz="4097">
                  <a:solidFill>
                    <a:srgbClr val="252930"/>
                  </a:solidFill>
                  <a:latin typeface="Roboto"/>
                  <a:ea typeface="Roboto"/>
                  <a:cs typeface="Roboto"/>
                  <a:sym typeface="Roboto"/>
                </a:rPr>
                <a:t> Objective </a:t>
              </a:r>
            </a:p>
            <a:p>
              <a:pPr algn="just" marL="884753" indent="-442376" lvl="1">
                <a:lnSpc>
                  <a:spcPts val="8195"/>
                </a:lnSpc>
                <a:buFont typeface="Arial"/>
                <a:buChar char="•"/>
              </a:pPr>
              <a:r>
                <a:rPr lang="en-US" sz="4097">
                  <a:solidFill>
                    <a:srgbClr val="252930"/>
                  </a:solidFill>
                  <a:latin typeface="Roboto"/>
                  <a:ea typeface="Roboto"/>
                  <a:cs typeface="Roboto"/>
                  <a:sym typeface="Roboto"/>
                </a:rPr>
                <a:t>Work done </a:t>
              </a:r>
            </a:p>
            <a:p>
              <a:pPr algn="just" marL="884753" indent="-442376" lvl="1">
                <a:lnSpc>
                  <a:spcPts val="8195"/>
                </a:lnSpc>
                <a:buFont typeface="Arial"/>
                <a:buChar char="•"/>
              </a:pPr>
              <a:r>
                <a:rPr lang="en-US" sz="4097">
                  <a:solidFill>
                    <a:srgbClr val="252930"/>
                  </a:solidFill>
                  <a:latin typeface="Roboto"/>
                  <a:ea typeface="Roboto"/>
                  <a:cs typeface="Roboto"/>
                  <a:sym typeface="Roboto"/>
                </a:rPr>
                <a:t>Results  and </a:t>
              </a:r>
            </a:p>
            <a:p>
              <a:pPr algn="just">
                <a:lnSpc>
                  <a:spcPts val="8195"/>
                </a:lnSpc>
              </a:pPr>
              <a:r>
                <a:rPr lang="en-US" sz="4097">
                  <a:solidFill>
                    <a:srgbClr val="252930"/>
                  </a:solidFill>
                  <a:latin typeface="Roboto"/>
                  <a:ea typeface="Roboto"/>
                  <a:cs typeface="Roboto"/>
                  <a:sym typeface="Roboto"/>
                </a:rPr>
                <a:t>      discussion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459141" y="3657169"/>
            <a:ext cx="8196861" cy="3953399"/>
            <a:chOff x="0" y="0"/>
            <a:chExt cx="10929148" cy="5271199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101232" y="-314325"/>
              <a:ext cx="10827916" cy="11273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872741" indent="-436370" lvl="1">
                <a:lnSpc>
                  <a:spcPts val="8084"/>
                </a:lnSpc>
                <a:buFont typeface="Arial"/>
                <a:buChar char="•"/>
              </a:pPr>
              <a:r>
                <a:rPr lang="en-US" sz="4042">
                  <a:solidFill>
                    <a:srgbClr val="252930"/>
                  </a:solidFill>
                  <a:latin typeface="Roboto"/>
                  <a:ea typeface="Roboto"/>
                  <a:cs typeface="Roboto"/>
                  <a:sym typeface="Roboto"/>
                </a:rPr>
                <a:t> Literature review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101232" y="1235334"/>
              <a:ext cx="9987541" cy="24845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872740" indent="-436370" lvl="1">
                <a:lnSpc>
                  <a:spcPts val="8084"/>
                </a:lnSpc>
                <a:buFont typeface="Arial"/>
                <a:buChar char="•"/>
              </a:pPr>
              <a:r>
                <a:rPr lang="en-US" sz="4042">
                  <a:solidFill>
                    <a:srgbClr val="252930"/>
                  </a:solidFill>
                  <a:latin typeface="Roboto"/>
                  <a:ea typeface="Roboto"/>
                  <a:cs typeface="Roboto"/>
                  <a:sym typeface="Roboto"/>
                </a:rPr>
                <a:t>Specifications/Components</a:t>
              </a:r>
            </a:p>
            <a:p>
              <a:pPr algn="just">
                <a:lnSpc>
                  <a:spcPts val="8084"/>
                </a:lnSpc>
              </a:pPr>
              <a:r>
                <a:rPr lang="en-US" sz="4042">
                  <a:solidFill>
                    <a:srgbClr val="252930"/>
                  </a:solidFill>
                  <a:latin typeface="Roboto"/>
                  <a:ea typeface="Roboto"/>
                  <a:cs typeface="Roboto"/>
                  <a:sym typeface="Roboto"/>
                </a:rPr>
                <a:t>     </a:t>
              </a:r>
              <a:r>
                <a:rPr lang="en-US" b="true" sz="4042">
                  <a:solidFill>
                    <a:srgbClr val="25293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 </a:t>
              </a:r>
              <a:r>
                <a:rPr lang="en-US" sz="4042">
                  <a:solidFill>
                    <a:srgbClr val="252930"/>
                  </a:solidFill>
                  <a:latin typeface="Roboto"/>
                  <a:ea typeface="Roboto"/>
                  <a:cs typeface="Roboto"/>
                  <a:sym typeface="Roboto"/>
                </a:rPr>
                <a:t>used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4143815"/>
              <a:ext cx="10827916" cy="11273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872741" indent="-436370" lvl="1">
                <a:lnSpc>
                  <a:spcPts val="8084"/>
                </a:lnSpc>
                <a:buFont typeface="Arial"/>
                <a:buChar char="•"/>
              </a:pPr>
              <a:r>
                <a:rPr lang="en-US" sz="4042">
                  <a:solidFill>
                    <a:srgbClr val="252930"/>
                  </a:solidFill>
                  <a:latin typeface="Roboto"/>
                  <a:ea typeface="Roboto"/>
                  <a:cs typeface="Roboto"/>
                  <a:sym typeface="Roboto"/>
                </a:rPr>
                <a:t>Conclusions 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4995148" y="1860291"/>
            <a:ext cx="8297704" cy="837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41"/>
              </a:lnSpc>
            </a:pPr>
            <a:r>
              <a:rPr lang="en-US" b="true" sz="7301">
                <a:solidFill>
                  <a:srgbClr val="252D37"/>
                </a:solidFill>
                <a:latin typeface="Roboto Bold"/>
                <a:ea typeface="Roboto Bold"/>
                <a:cs typeface="Roboto Bold"/>
                <a:sym typeface="Roboto Bold"/>
              </a:rPr>
              <a:t> </a:t>
            </a:r>
            <a:r>
              <a:rPr lang="en-US" b="true" sz="7301">
                <a:solidFill>
                  <a:srgbClr val="6B4431"/>
                </a:solidFill>
                <a:latin typeface="Roboto Bold"/>
                <a:ea typeface="Roboto Bold"/>
                <a:cs typeface="Roboto Bold"/>
                <a:sym typeface="Roboto Bold"/>
              </a:rPr>
              <a:t>OUTLINE</a:t>
            </a:r>
          </a:p>
        </p:txBody>
      </p:sp>
      <p:sp>
        <p:nvSpPr>
          <p:cNvPr name="Freeform 13" id="13"/>
          <p:cNvSpPr/>
          <p:nvPr/>
        </p:nvSpPr>
        <p:spPr>
          <a:xfrm flipH="true" flipV="false" rot="0">
            <a:off x="-211950" y="-10477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7773650" y="8229600"/>
            <a:ext cx="516220" cy="2057400"/>
          </a:xfrm>
          <a:custGeom>
            <a:avLst/>
            <a:gdLst/>
            <a:ahLst/>
            <a:cxnLst/>
            <a:rect r="r" b="b" t="t" l="l"/>
            <a:pathLst>
              <a:path h="2057400" w="516220">
                <a:moveTo>
                  <a:pt x="0" y="0"/>
                </a:moveTo>
                <a:lnTo>
                  <a:pt x="516220" y="0"/>
                </a:lnTo>
                <a:lnTo>
                  <a:pt x="51622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4542983" y="9077308"/>
            <a:ext cx="2716317" cy="1358159"/>
          </a:xfrm>
          <a:custGeom>
            <a:avLst/>
            <a:gdLst/>
            <a:ahLst/>
            <a:cxnLst/>
            <a:rect r="r" b="b" t="t" l="l"/>
            <a:pathLst>
              <a:path h="1358159" w="2716317">
                <a:moveTo>
                  <a:pt x="0" y="0"/>
                </a:moveTo>
                <a:lnTo>
                  <a:pt x="2716317" y="0"/>
                </a:lnTo>
                <a:lnTo>
                  <a:pt x="2716317" y="1358159"/>
                </a:lnTo>
                <a:lnTo>
                  <a:pt x="0" y="13581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E6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45450" y="3591560"/>
            <a:ext cx="14763939" cy="4638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15025" indent="-407513" lvl="1">
              <a:lnSpc>
                <a:spcPts val="5285"/>
              </a:lnSpc>
              <a:buFont typeface="Arial"/>
              <a:buChar char="•"/>
            </a:pPr>
            <a:r>
              <a:rPr lang="en-US" sz="3775">
                <a:solidFill>
                  <a:srgbClr val="252930"/>
                </a:solidFill>
                <a:latin typeface="Roboto"/>
                <a:ea typeface="Roboto"/>
                <a:cs typeface="Roboto"/>
                <a:sym typeface="Roboto"/>
              </a:rPr>
              <a:t> Medication reminders are essential for elderly patients, as nearly 50% forget their daily doses, leading to serious health complications. To reduce this risk, the Automatic Medicine Dispenser provides a low-cost and reliable offline solution.</a:t>
            </a:r>
          </a:p>
          <a:p>
            <a:pPr algn="just" marL="815025" indent="-407513" lvl="1">
              <a:lnSpc>
                <a:spcPts val="5285"/>
              </a:lnSpc>
              <a:buFont typeface="Arial"/>
              <a:buChar char="•"/>
            </a:pPr>
            <a:r>
              <a:rPr lang="en-US" sz="3775">
                <a:solidFill>
                  <a:srgbClr val="252930"/>
                </a:solidFill>
                <a:latin typeface="Roboto"/>
                <a:ea typeface="Roboto"/>
                <a:cs typeface="Roboto"/>
                <a:sym typeface="Roboto"/>
              </a:rPr>
              <a:t> It automates timely medicine alerts without needing internet or smartphones. This ensures safer, more consistent medication habits at home.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296706" y="2085904"/>
            <a:ext cx="11246277" cy="932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89"/>
              </a:lnSpc>
            </a:pPr>
            <a:r>
              <a:rPr lang="en-US" sz="8236">
                <a:solidFill>
                  <a:srgbClr val="252930"/>
                </a:solidFill>
                <a:latin typeface="Roboto"/>
                <a:ea typeface="Roboto"/>
                <a:cs typeface="Roboto"/>
                <a:sym typeface="Roboto"/>
              </a:rPr>
              <a:t>INTRODUCTION</a:t>
            </a:r>
          </a:p>
        </p:txBody>
      </p:sp>
      <p:sp>
        <p:nvSpPr>
          <p:cNvPr name="Freeform 4" id="4"/>
          <p:cNvSpPr/>
          <p:nvPr/>
        </p:nvSpPr>
        <p:spPr>
          <a:xfrm flipH="true" flipV="false" rot="0">
            <a:off x="-211950" y="-10477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773650" y="8229600"/>
            <a:ext cx="516220" cy="2057400"/>
          </a:xfrm>
          <a:custGeom>
            <a:avLst/>
            <a:gdLst/>
            <a:ahLst/>
            <a:cxnLst/>
            <a:rect r="r" b="b" t="t" l="l"/>
            <a:pathLst>
              <a:path h="2057400" w="516220">
                <a:moveTo>
                  <a:pt x="0" y="0"/>
                </a:moveTo>
                <a:lnTo>
                  <a:pt x="516220" y="0"/>
                </a:lnTo>
                <a:lnTo>
                  <a:pt x="51622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542983" y="9077308"/>
            <a:ext cx="2716317" cy="1358159"/>
          </a:xfrm>
          <a:custGeom>
            <a:avLst/>
            <a:gdLst/>
            <a:ahLst/>
            <a:cxnLst/>
            <a:rect r="r" b="b" t="t" l="l"/>
            <a:pathLst>
              <a:path h="1358159" w="2716317">
                <a:moveTo>
                  <a:pt x="0" y="0"/>
                </a:moveTo>
                <a:lnTo>
                  <a:pt x="2716317" y="0"/>
                </a:lnTo>
                <a:lnTo>
                  <a:pt x="2716317" y="1358159"/>
                </a:lnTo>
                <a:lnTo>
                  <a:pt x="0" y="13581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E6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62705" y="1639887"/>
            <a:ext cx="10577473" cy="920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00"/>
              </a:lnSpc>
            </a:pPr>
            <a:r>
              <a:rPr lang="en-US" sz="8000">
                <a:solidFill>
                  <a:srgbClr val="252D37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8000">
                <a:solidFill>
                  <a:srgbClr val="252D37"/>
                </a:solidFill>
                <a:latin typeface="Roboto"/>
                <a:ea typeface="Roboto"/>
                <a:cs typeface="Roboto"/>
                <a:sym typeface="Roboto"/>
              </a:rPr>
              <a:t>Literature review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844495" y="3144323"/>
            <a:ext cx="14599010" cy="6328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57122" indent="-428561" lvl="1">
              <a:lnSpc>
                <a:spcPts val="5557"/>
              </a:lnSpc>
              <a:buFont typeface="Arial"/>
              <a:buChar char="•"/>
            </a:pPr>
            <a:r>
              <a:rPr lang="en-US" sz="3969">
                <a:solidFill>
                  <a:srgbClr val="252D37"/>
                </a:solidFill>
                <a:latin typeface="Roboto"/>
                <a:ea typeface="Roboto"/>
                <a:cs typeface="Roboto"/>
                <a:sym typeface="Roboto"/>
              </a:rPr>
              <a:t> Early medication reminder systems relied only on alarms and  required full user involvement, providing no automation.</a:t>
            </a:r>
          </a:p>
          <a:p>
            <a:pPr algn="just" marL="857122" indent="-428561" lvl="1">
              <a:lnSpc>
                <a:spcPts val="5557"/>
              </a:lnSpc>
              <a:buFont typeface="Arial"/>
              <a:buChar char="•"/>
            </a:pPr>
            <a:r>
              <a:rPr lang="en-US" sz="3969">
                <a:solidFill>
                  <a:srgbClr val="252D37"/>
                </a:solidFill>
                <a:latin typeface="Roboto"/>
                <a:ea typeface="Roboto"/>
                <a:cs typeface="Roboto"/>
                <a:sym typeface="Roboto"/>
              </a:rPr>
              <a:t>Advanced IoT-based dispensers were introduced later, but they are expensive and depend on internet access or smartphone apps, making them unsuitable for many elderly users.</a:t>
            </a:r>
          </a:p>
          <a:p>
            <a:pPr algn="just" marL="857122" indent="-428561" lvl="1">
              <a:lnSpc>
                <a:spcPts val="5557"/>
              </a:lnSpc>
              <a:buFont typeface="Arial"/>
              <a:buChar char="•"/>
            </a:pPr>
            <a:r>
              <a:rPr lang="en-US" sz="3969">
                <a:solidFill>
                  <a:srgbClr val="252D37"/>
                </a:solidFill>
                <a:latin typeface="Roboto"/>
                <a:ea typeface="Roboto"/>
                <a:cs typeface="Roboto"/>
                <a:sym typeface="Roboto"/>
              </a:rPr>
              <a:t>we can see a clear need for a simple, affordable, offline dispensing solution—a gap that this project successfully addresses.</a:t>
            </a:r>
          </a:p>
        </p:txBody>
      </p:sp>
      <p:sp>
        <p:nvSpPr>
          <p:cNvPr name="Freeform 4" id="4"/>
          <p:cNvSpPr/>
          <p:nvPr/>
        </p:nvSpPr>
        <p:spPr>
          <a:xfrm flipH="true" flipV="false" rot="0">
            <a:off x="-211950" y="-10477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773650" y="8229600"/>
            <a:ext cx="516220" cy="2057400"/>
          </a:xfrm>
          <a:custGeom>
            <a:avLst/>
            <a:gdLst/>
            <a:ahLst/>
            <a:cxnLst/>
            <a:rect r="r" b="b" t="t" l="l"/>
            <a:pathLst>
              <a:path h="2057400" w="516220">
                <a:moveTo>
                  <a:pt x="0" y="0"/>
                </a:moveTo>
                <a:lnTo>
                  <a:pt x="516220" y="0"/>
                </a:lnTo>
                <a:lnTo>
                  <a:pt x="51622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903143" y="9112700"/>
            <a:ext cx="2716317" cy="1358159"/>
          </a:xfrm>
          <a:custGeom>
            <a:avLst/>
            <a:gdLst/>
            <a:ahLst/>
            <a:cxnLst/>
            <a:rect r="r" b="b" t="t" l="l"/>
            <a:pathLst>
              <a:path h="1358159" w="2716317">
                <a:moveTo>
                  <a:pt x="0" y="0"/>
                </a:moveTo>
                <a:lnTo>
                  <a:pt x="2716318" y="0"/>
                </a:lnTo>
                <a:lnTo>
                  <a:pt x="2716318" y="1358158"/>
                </a:lnTo>
                <a:lnTo>
                  <a:pt x="0" y="13581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E6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12504" y="1970111"/>
            <a:ext cx="7640663" cy="920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00"/>
              </a:lnSpc>
            </a:pPr>
            <a:r>
              <a:rPr lang="en-US" sz="8000">
                <a:solidFill>
                  <a:srgbClr val="252D37"/>
                </a:solidFill>
                <a:latin typeface="Roboto"/>
                <a:ea typeface="Roboto"/>
                <a:cs typeface="Roboto"/>
                <a:sym typeface="Roboto"/>
              </a:rPr>
              <a:t>OBJECTIVE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844495" y="3453621"/>
            <a:ext cx="14599010" cy="5623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57122" indent="-428561" lvl="1">
              <a:lnSpc>
                <a:spcPts val="5557"/>
              </a:lnSpc>
              <a:buFont typeface="Arial"/>
              <a:buChar char="•"/>
            </a:pPr>
            <a:r>
              <a:rPr lang="en-US" sz="3969">
                <a:solidFill>
                  <a:srgbClr val="252D37"/>
                </a:solidFill>
                <a:latin typeface="Roboto"/>
                <a:ea typeface="Roboto"/>
                <a:cs typeface="Roboto"/>
                <a:sym typeface="Roboto"/>
              </a:rPr>
              <a:t> To design an automated system that dispenses medicines at scheduled times</a:t>
            </a:r>
          </a:p>
          <a:p>
            <a:pPr algn="just" marL="857122" indent="-428561" lvl="1">
              <a:lnSpc>
                <a:spcPts val="5557"/>
              </a:lnSpc>
              <a:buFont typeface="Arial"/>
              <a:buChar char="•"/>
            </a:pPr>
            <a:r>
              <a:rPr lang="en-US" sz="3969">
                <a:solidFill>
                  <a:srgbClr val="252D37"/>
                </a:solidFill>
                <a:latin typeface="Roboto"/>
                <a:ea typeface="Roboto"/>
                <a:cs typeface="Roboto"/>
                <a:sym typeface="Roboto"/>
              </a:rPr>
              <a:t> To achieve accurate timing using DS3231 RTC</a:t>
            </a:r>
          </a:p>
          <a:p>
            <a:pPr algn="just" marL="857122" indent="-428561" lvl="1">
              <a:lnSpc>
                <a:spcPts val="5557"/>
              </a:lnSpc>
              <a:buFont typeface="Arial"/>
              <a:buChar char="•"/>
            </a:pPr>
            <a:r>
              <a:rPr lang="en-US" sz="3969">
                <a:solidFill>
                  <a:srgbClr val="252D37"/>
                </a:solidFill>
                <a:latin typeface="Roboto"/>
                <a:ea typeface="Roboto"/>
                <a:cs typeface="Roboto"/>
                <a:sym typeface="Roboto"/>
              </a:rPr>
              <a:t>To ensure precise tray rotation using 28BYJ-48 stepper motor</a:t>
            </a:r>
          </a:p>
          <a:p>
            <a:pPr algn="just" marL="857122" indent="-428561" lvl="1">
              <a:lnSpc>
                <a:spcPts val="5557"/>
              </a:lnSpc>
              <a:buFont typeface="Arial"/>
              <a:buChar char="•"/>
            </a:pPr>
            <a:r>
              <a:rPr lang="en-US" sz="3969">
                <a:solidFill>
                  <a:srgbClr val="252D37"/>
                </a:solidFill>
                <a:latin typeface="Roboto"/>
                <a:ea typeface="Roboto"/>
                <a:cs typeface="Roboto"/>
                <a:sym typeface="Roboto"/>
              </a:rPr>
              <a:t>To store schedules permanently using EEPROM</a:t>
            </a:r>
          </a:p>
          <a:p>
            <a:pPr algn="just" marL="857122" indent="-428561" lvl="1">
              <a:lnSpc>
                <a:spcPts val="5557"/>
              </a:lnSpc>
              <a:buFont typeface="Arial"/>
              <a:buChar char="•"/>
            </a:pPr>
            <a:r>
              <a:rPr lang="en-US" sz="3969">
                <a:solidFill>
                  <a:srgbClr val="252D37"/>
                </a:solidFill>
                <a:latin typeface="Roboto"/>
                <a:ea typeface="Roboto"/>
                <a:cs typeface="Roboto"/>
                <a:sym typeface="Roboto"/>
              </a:rPr>
              <a:t>To create a simple and user-friendly device, especially for elderly users</a:t>
            </a:r>
          </a:p>
        </p:txBody>
      </p:sp>
      <p:sp>
        <p:nvSpPr>
          <p:cNvPr name="Freeform 4" id="4"/>
          <p:cNvSpPr/>
          <p:nvPr/>
        </p:nvSpPr>
        <p:spPr>
          <a:xfrm flipH="true" flipV="false" rot="0">
            <a:off x="-211950" y="-10477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773650" y="8229600"/>
            <a:ext cx="516220" cy="2057400"/>
          </a:xfrm>
          <a:custGeom>
            <a:avLst/>
            <a:gdLst/>
            <a:ahLst/>
            <a:cxnLst/>
            <a:rect r="r" b="b" t="t" l="l"/>
            <a:pathLst>
              <a:path h="2057400" w="516220">
                <a:moveTo>
                  <a:pt x="0" y="0"/>
                </a:moveTo>
                <a:lnTo>
                  <a:pt x="516220" y="0"/>
                </a:lnTo>
                <a:lnTo>
                  <a:pt x="51622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542983" y="9077308"/>
            <a:ext cx="2716317" cy="1358159"/>
          </a:xfrm>
          <a:custGeom>
            <a:avLst/>
            <a:gdLst/>
            <a:ahLst/>
            <a:cxnLst/>
            <a:rect r="r" b="b" t="t" l="l"/>
            <a:pathLst>
              <a:path h="1358159" w="2716317">
                <a:moveTo>
                  <a:pt x="0" y="0"/>
                </a:moveTo>
                <a:lnTo>
                  <a:pt x="2716317" y="0"/>
                </a:lnTo>
                <a:lnTo>
                  <a:pt x="2716317" y="1358159"/>
                </a:lnTo>
                <a:lnTo>
                  <a:pt x="0" y="13581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E6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211950" y="-10477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771780" y="7713380"/>
            <a:ext cx="516220" cy="2057400"/>
          </a:xfrm>
          <a:custGeom>
            <a:avLst/>
            <a:gdLst/>
            <a:ahLst/>
            <a:cxnLst/>
            <a:rect r="r" b="b" t="t" l="l"/>
            <a:pathLst>
              <a:path h="2057400" w="516220">
                <a:moveTo>
                  <a:pt x="0" y="0"/>
                </a:moveTo>
                <a:lnTo>
                  <a:pt x="516220" y="0"/>
                </a:lnTo>
                <a:lnTo>
                  <a:pt x="51622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16130060" y="9000190"/>
            <a:ext cx="516220" cy="2057400"/>
          </a:xfrm>
          <a:custGeom>
            <a:avLst/>
            <a:gdLst/>
            <a:ahLst/>
            <a:cxnLst/>
            <a:rect r="r" b="b" t="t" l="l"/>
            <a:pathLst>
              <a:path h="2057400" w="516220">
                <a:moveTo>
                  <a:pt x="0" y="0"/>
                </a:moveTo>
                <a:lnTo>
                  <a:pt x="516220" y="0"/>
                </a:lnTo>
                <a:lnTo>
                  <a:pt x="51622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306818" y="2725955"/>
            <a:ext cx="10998201" cy="6716860"/>
          </a:xfrm>
          <a:custGeom>
            <a:avLst/>
            <a:gdLst/>
            <a:ahLst/>
            <a:cxnLst/>
            <a:rect r="r" b="b" t="t" l="l"/>
            <a:pathLst>
              <a:path h="6716860" w="10998201">
                <a:moveTo>
                  <a:pt x="0" y="0"/>
                </a:moveTo>
                <a:lnTo>
                  <a:pt x="10998201" y="0"/>
                </a:lnTo>
                <a:lnTo>
                  <a:pt x="10998201" y="6716859"/>
                </a:lnTo>
                <a:lnTo>
                  <a:pt x="0" y="671685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4580" r="0" b="-458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902850" y="1323975"/>
            <a:ext cx="9328916" cy="920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00"/>
              </a:lnSpc>
            </a:pPr>
            <a:r>
              <a:rPr lang="en-US" b="true" sz="8000">
                <a:solidFill>
                  <a:srgbClr val="252930"/>
                </a:solidFill>
                <a:latin typeface="Roboto Bold"/>
                <a:ea typeface="Roboto Bold"/>
                <a:cs typeface="Roboto Bold"/>
                <a:sym typeface="Roboto Bold"/>
              </a:rPr>
              <a:t>Block Diagram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E6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8229600"/>
            <a:ext cx="516220" cy="2057400"/>
          </a:xfrm>
          <a:custGeom>
            <a:avLst/>
            <a:gdLst/>
            <a:ahLst/>
            <a:cxnLst/>
            <a:rect r="r" b="b" t="t" l="l"/>
            <a:pathLst>
              <a:path h="2057400" w="516220">
                <a:moveTo>
                  <a:pt x="0" y="0"/>
                </a:moveTo>
                <a:lnTo>
                  <a:pt x="516220" y="0"/>
                </a:lnTo>
                <a:lnTo>
                  <a:pt x="51622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01900" y="-10287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1588575" y="9000190"/>
            <a:ext cx="516220" cy="2057400"/>
          </a:xfrm>
          <a:custGeom>
            <a:avLst/>
            <a:gdLst/>
            <a:ahLst/>
            <a:cxnLst/>
            <a:rect r="r" b="b" t="t" l="l"/>
            <a:pathLst>
              <a:path h="2057400" w="516220">
                <a:moveTo>
                  <a:pt x="0" y="0"/>
                </a:moveTo>
                <a:lnTo>
                  <a:pt x="516220" y="0"/>
                </a:lnTo>
                <a:lnTo>
                  <a:pt x="51622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615402" y="2381399"/>
          <a:ext cx="15057197" cy="6824398"/>
        </p:xfrm>
        <a:graphic>
          <a:graphicData uri="http://schemas.openxmlformats.org/drawingml/2006/table">
            <a:tbl>
              <a:tblPr/>
              <a:tblGrid>
                <a:gridCol w="1159816"/>
                <a:gridCol w="5375828"/>
                <a:gridCol w="8521553"/>
              </a:tblGrid>
              <a:tr h="121646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73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B3A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599"/>
                        </a:lnSpc>
                        <a:defRPr/>
                      </a:pPr>
                      <a:r>
                        <a:rPr lang="en-US" sz="3999" b="true">
                          <a:solidFill>
                            <a:srgbClr val="FFFFFF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Components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B3A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599"/>
                        </a:lnSpc>
                        <a:defRPr/>
                      </a:pPr>
                      <a:r>
                        <a:rPr lang="en-US" sz="3999" b="true">
                          <a:solidFill>
                            <a:srgbClr val="FFFFFF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Specification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B3A0"/>
                    </a:solidFill>
                  </a:tcPr>
                </a:tc>
              </a:tr>
              <a:tr h="110088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Arduino Uno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ATmega328P, 5V logic, 16 MHz clock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489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DS3231 RTC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 ±2 ppm accuracy, 3.3–5V, CR2032 battery backup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6071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28BYJ-48 Stepper Motor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 5V, 2048 steps/rev (or 4096), 1/64 reduction ratio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6071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ULN2003 Driver Board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7-channel Darlington array, 5V input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6071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LED Indicators (4 pcs)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5mm LED, 20 mA current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1846685" y="1113054"/>
            <a:ext cx="12654339" cy="703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6"/>
              </a:lnSpc>
            </a:pPr>
            <a:r>
              <a:rPr lang="en-US" sz="6158">
                <a:solidFill>
                  <a:srgbClr val="252930"/>
                </a:solidFill>
                <a:latin typeface="Roboto"/>
                <a:ea typeface="Roboto"/>
                <a:cs typeface="Roboto"/>
                <a:sym typeface="Roboto"/>
              </a:rPr>
              <a:t> SPECIFICATIONS / COMPONENTS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E6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771780" y="8073685"/>
            <a:ext cx="516220" cy="2057400"/>
          </a:xfrm>
          <a:custGeom>
            <a:avLst/>
            <a:gdLst/>
            <a:ahLst/>
            <a:cxnLst/>
            <a:rect r="r" b="b" t="t" l="l"/>
            <a:pathLst>
              <a:path h="2057400" w="516220">
                <a:moveTo>
                  <a:pt x="0" y="0"/>
                </a:moveTo>
                <a:lnTo>
                  <a:pt x="516220" y="0"/>
                </a:lnTo>
                <a:lnTo>
                  <a:pt x="51622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01900" y="-10287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16251759" y="8844275"/>
            <a:ext cx="516220" cy="2057400"/>
          </a:xfrm>
          <a:custGeom>
            <a:avLst/>
            <a:gdLst/>
            <a:ahLst/>
            <a:cxnLst/>
            <a:rect r="r" b="b" t="t" l="l"/>
            <a:pathLst>
              <a:path h="2057400" w="516220">
                <a:moveTo>
                  <a:pt x="0" y="0"/>
                </a:moveTo>
                <a:lnTo>
                  <a:pt x="516221" y="0"/>
                </a:lnTo>
                <a:lnTo>
                  <a:pt x="516221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480341" y="2629994"/>
          <a:ext cx="15057197" cy="4515927"/>
        </p:xfrm>
        <a:graphic>
          <a:graphicData uri="http://schemas.openxmlformats.org/drawingml/2006/table">
            <a:tbl>
              <a:tblPr/>
              <a:tblGrid>
                <a:gridCol w="1159816"/>
                <a:gridCol w="5375828"/>
                <a:gridCol w="8521553"/>
              </a:tblGrid>
              <a:tr h="121996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73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B3A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599"/>
                        </a:lnSpc>
                        <a:defRPr/>
                      </a:pPr>
                      <a:r>
                        <a:rPr lang="en-US" sz="3999" b="true">
                          <a:solidFill>
                            <a:srgbClr val="FFFFFF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Components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B3A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599"/>
                        </a:lnSpc>
                        <a:defRPr/>
                      </a:pPr>
                      <a:r>
                        <a:rPr lang="en-US" sz="3999" b="true">
                          <a:solidFill>
                            <a:srgbClr val="FFFFFF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Specification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B3A0"/>
                    </a:solidFill>
                  </a:tcPr>
                </a:tc>
              </a:tr>
              <a:tr h="110405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Buzzer (Passive)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5V DC, piezoelectric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784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Resistors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220Ω (for LEDs)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6405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Power Supply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5V regulated USB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6" id="6"/>
          <p:cNvSpPr/>
          <p:nvPr/>
        </p:nvSpPr>
        <p:spPr>
          <a:xfrm flipH="false" flipV="false" rot="0">
            <a:off x="1480341" y="7404031"/>
            <a:ext cx="3196100" cy="2882969"/>
          </a:xfrm>
          <a:custGeom>
            <a:avLst/>
            <a:gdLst/>
            <a:ahLst/>
            <a:cxnLst/>
            <a:rect r="r" b="b" t="t" l="l"/>
            <a:pathLst>
              <a:path h="2882969" w="3196100">
                <a:moveTo>
                  <a:pt x="0" y="0"/>
                </a:moveTo>
                <a:lnTo>
                  <a:pt x="3196101" y="0"/>
                </a:lnTo>
                <a:lnTo>
                  <a:pt x="3196101" y="2882969"/>
                </a:lnTo>
                <a:lnTo>
                  <a:pt x="0" y="28829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293723" y="7367308"/>
            <a:ext cx="3097936" cy="2763777"/>
          </a:xfrm>
          <a:custGeom>
            <a:avLst/>
            <a:gdLst/>
            <a:ahLst/>
            <a:cxnLst/>
            <a:rect r="r" b="b" t="t" l="l"/>
            <a:pathLst>
              <a:path h="2763777" w="3097936">
                <a:moveTo>
                  <a:pt x="0" y="0"/>
                </a:moveTo>
                <a:lnTo>
                  <a:pt x="3097936" y="0"/>
                </a:lnTo>
                <a:lnTo>
                  <a:pt x="3097936" y="2763777"/>
                </a:lnTo>
                <a:lnTo>
                  <a:pt x="0" y="276377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098241" y="7423565"/>
            <a:ext cx="2899150" cy="2727054"/>
          </a:xfrm>
          <a:custGeom>
            <a:avLst/>
            <a:gdLst/>
            <a:ahLst/>
            <a:cxnLst/>
            <a:rect r="r" b="b" t="t" l="l"/>
            <a:pathLst>
              <a:path h="2727054" w="2899150">
                <a:moveTo>
                  <a:pt x="0" y="0"/>
                </a:moveTo>
                <a:lnTo>
                  <a:pt x="2899149" y="0"/>
                </a:lnTo>
                <a:lnTo>
                  <a:pt x="2899149" y="2727054"/>
                </a:lnTo>
                <a:lnTo>
                  <a:pt x="0" y="272705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008940" y="7443098"/>
            <a:ext cx="3555628" cy="2687986"/>
          </a:xfrm>
          <a:custGeom>
            <a:avLst/>
            <a:gdLst/>
            <a:ahLst/>
            <a:cxnLst/>
            <a:rect r="r" b="b" t="t" l="l"/>
            <a:pathLst>
              <a:path h="2687986" w="3555628">
                <a:moveTo>
                  <a:pt x="0" y="0"/>
                </a:moveTo>
                <a:lnTo>
                  <a:pt x="3555627" y="0"/>
                </a:lnTo>
                <a:lnTo>
                  <a:pt x="3555627" y="2687987"/>
                </a:lnTo>
                <a:lnTo>
                  <a:pt x="0" y="268798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615402" y="1257300"/>
            <a:ext cx="12654339" cy="703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6"/>
              </a:lnSpc>
            </a:pPr>
            <a:r>
              <a:rPr lang="en-US" sz="6158">
                <a:solidFill>
                  <a:srgbClr val="252930"/>
                </a:solidFill>
                <a:latin typeface="Roboto"/>
                <a:ea typeface="Roboto"/>
                <a:cs typeface="Roboto"/>
                <a:sym typeface="Roboto"/>
              </a:rPr>
              <a:t> SPECIFICATIONS / COMPONENTS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E6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815437"/>
            <a:ext cx="10698832" cy="1569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12"/>
              </a:lnSpc>
            </a:pPr>
            <a:r>
              <a:rPr lang="en-US" sz="7266">
                <a:solidFill>
                  <a:srgbClr val="252930"/>
                </a:solidFill>
                <a:latin typeface="Roboto"/>
                <a:ea typeface="Roboto"/>
                <a:cs typeface="Roboto"/>
                <a:sym typeface="Roboto"/>
              </a:rPr>
              <a:t> WORK DONE  </a:t>
            </a:r>
          </a:p>
          <a:p>
            <a:pPr algn="ctr">
              <a:lnSpc>
                <a:spcPts val="5812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2018810" y="1847850"/>
            <a:ext cx="13890218" cy="11967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52"/>
              </a:lnSpc>
            </a:pPr>
            <a:r>
              <a:rPr lang="en-US" sz="3966">
                <a:solidFill>
                  <a:srgbClr val="252930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r>
              <a:rPr lang="en-US" sz="3966" b="true">
                <a:solidFill>
                  <a:srgbClr val="252930"/>
                </a:solidFill>
                <a:latin typeface="Roboto Bold"/>
                <a:ea typeface="Roboto Bold"/>
                <a:cs typeface="Roboto Bold"/>
                <a:sym typeface="Roboto Bold"/>
              </a:rPr>
              <a:t>1) Mechanical Design :-</a:t>
            </a:r>
          </a:p>
          <a:p>
            <a:pPr algn="just" marL="856326" indent="-428163" lvl="1">
              <a:lnSpc>
                <a:spcPts val="5552"/>
              </a:lnSpc>
              <a:buFont typeface="Arial"/>
              <a:buChar char="•"/>
            </a:pPr>
            <a:r>
              <a:rPr lang="en-US" sz="3966">
                <a:solidFill>
                  <a:srgbClr val="252930"/>
                </a:solidFill>
                <a:latin typeface="Roboto"/>
                <a:ea typeface="Roboto"/>
                <a:cs typeface="Roboto"/>
                <a:sym typeface="Roboto"/>
              </a:rPr>
              <a:t>Designed a circular tray divided into 4 equal compartments.</a:t>
            </a:r>
          </a:p>
          <a:p>
            <a:pPr algn="just" marL="856326" indent="-428163" lvl="1">
              <a:lnSpc>
                <a:spcPts val="5552"/>
              </a:lnSpc>
              <a:buFont typeface="Arial"/>
              <a:buChar char="•"/>
            </a:pPr>
            <a:r>
              <a:rPr lang="en-US" sz="3966">
                <a:solidFill>
                  <a:srgbClr val="252930"/>
                </a:solidFill>
                <a:latin typeface="Roboto"/>
                <a:ea typeface="Roboto"/>
                <a:cs typeface="Roboto"/>
                <a:sym typeface="Roboto"/>
              </a:rPr>
              <a:t>Calibrated the stepper motor to rotate 512 steps = 90°, ensuring precise alignment for each slot.</a:t>
            </a:r>
          </a:p>
          <a:p>
            <a:pPr algn="just">
              <a:lnSpc>
                <a:spcPts val="5552"/>
              </a:lnSpc>
            </a:pPr>
            <a:r>
              <a:rPr lang="en-US" sz="3966" b="true">
                <a:solidFill>
                  <a:srgbClr val="252930"/>
                </a:solidFill>
                <a:latin typeface="Roboto Bold"/>
                <a:ea typeface="Roboto Bold"/>
                <a:cs typeface="Roboto Bold"/>
                <a:sym typeface="Roboto Bold"/>
              </a:rPr>
              <a:t>  2) Hardware Integration :-</a:t>
            </a:r>
          </a:p>
          <a:p>
            <a:pPr algn="just" marL="856326" indent="-428163" lvl="1">
              <a:lnSpc>
                <a:spcPts val="5552"/>
              </a:lnSpc>
              <a:buFont typeface="Arial"/>
              <a:buChar char="•"/>
            </a:pPr>
            <a:r>
              <a:rPr lang="en-US" sz="3966">
                <a:solidFill>
                  <a:srgbClr val="252930"/>
                </a:solidFill>
                <a:latin typeface="Roboto"/>
                <a:ea typeface="Roboto"/>
                <a:cs typeface="Roboto"/>
                <a:sym typeface="Roboto"/>
              </a:rPr>
              <a:t>Arduino Uno connected to the DS3231 RTC using the I²C interface (SDA, SCL).</a:t>
            </a:r>
          </a:p>
          <a:p>
            <a:pPr algn="just" marL="856326" indent="-428163" lvl="1">
              <a:lnSpc>
                <a:spcPts val="5552"/>
              </a:lnSpc>
              <a:buFont typeface="Arial"/>
              <a:buChar char="•"/>
            </a:pPr>
            <a:r>
              <a:rPr lang="en-US" sz="3966">
                <a:solidFill>
                  <a:srgbClr val="252930"/>
                </a:solidFill>
                <a:latin typeface="Roboto"/>
                <a:ea typeface="Roboto"/>
                <a:cs typeface="Roboto"/>
                <a:sym typeface="Roboto"/>
              </a:rPr>
              <a:t>28BYJ-48 Stepper Motor controlled through the ULN2003 driver board for stable rotation.</a:t>
            </a:r>
          </a:p>
          <a:p>
            <a:pPr algn="just" marL="856326" indent="-428163" lvl="1">
              <a:lnSpc>
                <a:spcPts val="5552"/>
              </a:lnSpc>
              <a:buFont typeface="Arial"/>
              <a:buChar char="•"/>
            </a:pPr>
            <a:r>
              <a:rPr lang="en-US" sz="3966">
                <a:solidFill>
                  <a:srgbClr val="252930"/>
                </a:solidFill>
                <a:latin typeface="Roboto"/>
                <a:ea typeface="Roboto"/>
                <a:cs typeface="Roboto"/>
                <a:sym typeface="Roboto"/>
              </a:rPr>
              <a:t>LED indicators and buzzer wired to digital pins for user alerts.</a:t>
            </a:r>
          </a:p>
          <a:p>
            <a:pPr algn="just" marL="856326" indent="-428163" lvl="1">
              <a:lnSpc>
                <a:spcPts val="5552"/>
              </a:lnSpc>
              <a:buFont typeface="Arial"/>
              <a:buChar char="•"/>
            </a:pPr>
            <a:r>
              <a:rPr lang="en-US" sz="3966">
                <a:solidFill>
                  <a:srgbClr val="252930"/>
                </a:solidFill>
                <a:latin typeface="Roboto"/>
                <a:ea typeface="Roboto"/>
                <a:cs typeface="Roboto"/>
                <a:sym typeface="Roboto"/>
              </a:rPr>
              <a:t>Power connections arranged to minimize electrical noise affecting motor accuracy.</a:t>
            </a:r>
          </a:p>
          <a:p>
            <a:pPr algn="just">
              <a:lnSpc>
                <a:spcPts val="5552"/>
              </a:lnSpc>
            </a:pPr>
            <a:r>
              <a:rPr lang="en-US" sz="3966">
                <a:solidFill>
                  <a:srgbClr val="25293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  <a:p>
            <a:pPr algn="just">
              <a:lnSpc>
                <a:spcPts val="5552"/>
              </a:lnSpc>
            </a:pPr>
          </a:p>
          <a:p>
            <a:pPr algn="just">
              <a:lnSpc>
                <a:spcPts val="5552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0" y="8229600"/>
            <a:ext cx="516220" cy="2057400"/>
          </a:xfrm>
          <a:custGeom>
            <a:avLst/>
            <a:gdLst/>
            <a:ahLst/>
            <a:cxnLst/>
            <a:rect r="r" b="b" t="t" l="l"/>
            <a:pathLst>
              <a:path h="2057400" w="516220">
                <a:moveTo>
                  <a:pt x="0" y="0"/>
                </a:moveTo>
                <a:lnTo>
                  <a:pt x="516220" y="0"/>
                </a:lnTo>
                <a:lnTo>
                  <a:pt x="51622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354175" y="-12382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806239" y="8940659"/>
            <a:ext cx="540102" cy="2152580"/>
          </a:xfrm>
          <a:custGeom>
            <a:avLst/>
            <a:gdLst/>
            <a:ahLst/>
            <a:cxnLst/>
            <a:rect r="r" b="b" t="t" l="l"/>
            <a:pathLst>
              <a:path h="2152580" w="540102">
                <a:moveTo>
                  <a:pt x="0" y="0"/>
                </a:moveTo>
                <a:lnTo>
                  <a:pt x="540102" y="0"/>
                </a:lnTo>
                <a:lnTo>
                  <a:pt x="540102" y="2152580"/>
                </a:lnTo>
                <a:lnTo>
                  <a:pt x="0" y="21525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E6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8229600"/>
            <a:ext cx="516220" cy="2057400"/>
          </a:xfrm>
          <a:custGeom>
            <a:avLst/>
            <a:gdLst/>
            <a:ahLst/>
            <a:cxnLst/>
            <a:rect r="r" b="b" t="t" l="l"/>
            <a:pathLst>
              <a:path h="2057400" w="516220">
                <a:moveTo>
                  <a:pt x="0" y="0"/>
                </a:moveTo>
                <a:lnTo>
                  <a:pt x="516220" y="0"/>
                </a:lnTo>
                <a:lnTo>
                  <a:pt x="51622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412147" y="-1204307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806239" y="8940659"/>
            <a:ext cx="540102" cy="2152580"/>
          </a:xfrm>
          <a:custGeom>
            <a:avLst/>
            <a:gdLst/>
            <a:ahLst/>
            <a:cxnLst/>
            <a:rect r="r" b="b" t="t" l="l"/>
            <a:pathLst>
              <a:path h="2152580" w="540102">
                <a:moveTo>
                  <a:pt x="0" y="0"/>
                </a:moveTo>
                <a:lnTo>
                  <a:pt x="540102" y="0"/>
                </a:lnTo>
                <a:lnTo>
                  <a:pt x="540102" y="2152580"/>
                </a:lnTo>
                <a:lnTo>
                  <a:pt x="0" y="21525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071191" y="2745127"/>
            <a:ext cx="14419016" cy="6362391"/>
          </a:xfrm>
          <a:custGeom>
            <a:avLst/>
            <a:gdLst/>
            <a:ahLst/>
            <a:cxnLst/>
            <a:rect r="r" b="b" t="t" l="l"/>
            <a:pathLst>
              <a:path h="6362391" w="14419016">
                <a:moveTo>
                  <a:pt x="0" y="0"/>
                </a:moveTo>
                <a:lnTo>
                  <a:pt x="14419016" y="0"/>
                </a:lnTo>
                <a:lnTo>
                  <a:pt x="14419016" y="6362391"/>
                </a:lnTo>
                <a:lnTo>
                  <a:pt x="0" y="636239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0" y="1175864"/>
            <a:ext cx="10698832" cy="1569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12"/>
              </a:lnSpc>
            </a:pPr>
            <a:r>
              <a:rPr lang="en-US" sz="7266">
                <a:solidFill>
                  <a:srgbClr val="252930"/>
                </a:solidFill>
                <a:latin typeface="Roboto"/>
                <a:ea typeface="Roboto"/>
                <a:cs typeface="Roboto"/>
                <a:sym typeface="Roboto"/>
              </a:rPr>
              <a:t> WORK DONE  </a:t>
            </a:r>
          </a:p>
          <a:p>
            <a:pPr algn="ctr">
              <a:lnSpc>
                <a:spcPts val="5812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E6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202590" y="377419"/>
            <a:ext cx="10698832" cy="1569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12"/>
              </a:lnSpc>
            </a:pPr>
            <a:r>
              <a:rPr lang="en-US" sz="7266">
                <a:solidFill>
                  <a:srgbClr val="252930"/>
                </a:solidFill>
                <a:latin typeface="Roboto"/>
                <a:ea typeface="Roboto"/>
                <a:cs typeface="Roboto"/>
                <a:sym typeface="Roboto"/>
              </a:rPr>
              <a:t> WORK DONE  </a:t>
            </a:r>
          </a:p>
          <a:p>
            <a:pPr algn="ctr">
              <a:lnSpc>
                <a:spcPts val="5812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681464" y="1556143"/>
            <a:ext cx="13890218" cy="9852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52"/>
              </a:lnSpc>
            </a:pPr>
            <a:r>
              <a:rPr lang="en-US" sz="3966">
                <a:solidFill>
                  <a:srgbClr val="25293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3966" b="true">
                <a:solidFill>
                  <a:srgbClr val="252930"/>
                </a:solidFill>
                <a:latin typeface="Roboto Bold"/>
                <a:ea typeface="Roboto Bold"/>
                <a:cs typeface="Roboto Bold"/>
                <a:sym typeface="Roboto Bold"/>
              </a:rPr>
              <a:t>3) Software Development:-</a:t>
            </a:r>
          </a:p>
          <a:p>
            <a:pPr algn="just">
              <a:lnSpc>
                <a:spcPts val="5552"/>
              </a:lnSpc>
            </a:pPr>
            <a:r>
              <a:rPr lang="en-US" sz="3966" b="true">
                <a:solidFill>
                  <a:srgbClr val="252930"/>
                </a:solidFill>
                <a:latin typeface="Roboto Bold"/>
                <a:ea typeface="Roboto Bold"/>
                <a:cs typeface="Roboto Bold"/>
                <a:sym typeface="Roboto Bold"/>
              </a:rPr>
              <a:t>     </a:t>
            </a:r>
            <a:r>
              <a:rPr lang="en-US" sz="3966">
                <a:solidFill>
                  <a:srgbClr val="252930"/>
                </a:solidFill>
                <a:latin typeface="Roboto"/>
                <a:ea typeface="Roboto"/>
                <a:cs typeface="Roboto"/>
                <a:sym typeface="Roboto"/>
              </a:rPr>
              <a:t>Program organized into modular sections for:</a:t>
            </a:r>
          </a:p>
          <a:p>
            <a:pPr algn="just" marL="856326" indent="-428163" lvl="1">
              <a:lnSpc>
                <a:spcPts val="5552"/>
              </a:lnSpc>
              <a:buFont typeface="Arial"/>
              <a:buChar char="•"/>
            </a:pPr>
            <a:r>
              <a:rPr lang="en-US" sz="3966">
                <a:solidFill>
                  <a:srgbClr val="252930"/>
                </a:solidFill>
                <a:latin typeface="Roboto"/>
                <a:ea typeface="Roboto"/>
                <a:cs typeface="Roboto"/>
                <a:sym typeface="Roboto"/>
              </a:rPr>
              <a:t>Real-time clock reading</a:t>
            </a:r>
          </a:p>
          <a:p>
            <a:pPr algn="just" marL="856326" indent="-428163" lvl="1">
              <a:lnSpc>
                <a:spcPts val="5552"/>
              </a:lnSpc>
              <a:buFont typeface="Arial"/>
              <a:buChar char="•"/>
            </a:pPr>
            <a:r>
              <a:rPr lang="en-US" sz="3966">
                <a:solidFill>
                  <a:srgbClr val="252930"/>
                </a:solidFill>
                <a:latin typeface="Roboto"/>
                <a:ea typeface="Roboto"/>
                <a:cs typeface="Roboto"/>
                <a:sym typeface="Roboto"/>
              </a:rPr>
              <a:t>Alarm setting and scheduling</a:t>
            </a:r>
          </a:p>
          <a:p>
            <a:pPr algn="just" marL="856326" indent="-428163" lvl="1">
              <a:lnSpc>
                <a:spcPts val="5552"/>
              </a:lnSpc>
              <a:buFont typeface="Arial"/>
              <a:buChar char="•"/>
            </a:pPr>
            <a:r>
              <a:rPr lang="en-US" sz="3966">
                <a:solidFill>
                  <a:srgbClr val="252930"/>
                </a:solidFill>
                <a:latin typeface="Roboto"/>
                <a:ea typeface="Roboto"/>
                <a:cs typeface="Roboto"/>
                <a:sym typeface="Roboto"/>
              </a:rPr>
              <a:t>EEPROM-based storage of timings</a:t>
            </a:r>
          </a:p>
          <a:p>
            <a:pPr algn="just" marL="856326" indent="-428163" lvl="1">
              <a:lnSpc>
                <a:spcPts val="5552"/>
              </a:lnSpc>
              <a:buFont typeface="Arial"/>
              <a:buChar char="•"/>
            </a:pPr>
            <a:r>
              <a:rPr lang="en-US" sz="3966">
                <a:solidFill>
                  <a:srgbClr val="252930"/>
                </a:solidFill>
                <a:latin typeface="Roboto"/>
                <a:ea typeface="Roboto"/>
                <a:cs typeface="Roboto"/>
                <a:sym typeface="Roboto"/>
              </a:rPr>
              <a:t>Stepper motor rotation control</a:t>
            </a:r>
          </a:p>
          <a:p>
            <a:pPr algn="just" marL="856326" indent="-428163" lvl="1">
              <a:lnSpc>
                <a:spcPts val="5552"/>
              </a:lnSpc>
              <a:buFont typeface="Arial"/>
              <a:buChar char="•"/>
            </a:pPr>
            <a:r>
              <a:rPr lang="en-US" sz="3966">
                <a:solidFill>
                  <a:srgbClr val="252930"/>
                </a:solidFill>
                <a:latin typeface="Roboto"/>
                <a:ea typeface="Roboto"/>
                <a:cs typeface="Roboto"/>
                <a:sym typeface="Roboto"/>
              </a:rPr>
              <a:t>LED + buzzer alert routines</a:t>
            </a:r>
          </a:p>
          <a:p>
            <a:pPr algn="just">
              <a:lnSpc>
                <a:spcPts val="5552"/>
              </a:lnSpc>
            </a:pPr>
            <a:r>
              <a:rPr lang="en-US" sz="3966" b="true">
                <a:solidFill>
                  <a:srgbClr val="252930"/>
                </a:solidFill>
                <a:latin typeface="Roboto Bold"/>
                <a:ea typeface="Roboto Bold"/>
                <a:cs typeface="Roboto Bold"/>
                <a:sym typeface="Roboto Bold"/>
              </a:rPr>
              <a:t>4) Testing &amp; Verification :-</a:t>
            </a:r>
          </a:p>
          <a:p>
            <a:pPr algn="just" marL="856326" indent="-428163" lvl="1">
              <a:lnSpc>
                <a:spcPts val="5552"/>
              </a:lnSpc>
              <a:buFont typeface="Arial"/>
              <a:buChar char="•"/>
            </a:pPr>
            <a:r>
              <a:rPr lang="en-US" sz="3966">
                <a:solidFill>
                  <a:srgbClr val="252930"/>
                </a:solidFill>
                <a:latin typeface="Roboto"/>
                <a:ea typeface="Roboto"/>
                <a:cs typeface="Roboto"/>
                <a:sym typeface="Roboto"/>
              </a:rPr>
              <a:t>Stepper motor tested for repeated 90° rotations </a:t>
            </a:r>
          </a:p>
          <a:p>
            <a:pPr algn="just" marL="856326" indent="-428163" lvl="1">
              <a:lnSpc>
                <a:spcPts val="5552"/>
              </a:lnSpc>
              <a:buFont typeface="Arial"/>
              <a:buChar char="•"/>
            </a:pPr>
            <a:r>
              <a:rPr lang="en-US" sz="3966">
                <a:solidFill>
                  <a:srgbClr val="252930"/>
                </a:solidFill>
                <a:latin typeface="Roboto"/>
                <a:ea typeface="Roboto"/>
                <a:cs typeface="Roboto"/>
                <a:sym typeface="Roboto"/>
              </a:rPr>
              <a:t>EEPROM validated by power cycling to ensure alarm data is retained.</a:t>
            </a:r>
          </a:p>
          <a:p>
            <a:pPr algn="just" marL="856326" indent="-428163" lvl="1">
              <a:lnSpc>
                <a:spcPts val="5552"/>
              </a:lnSpc>
              <a:buFont typeface="Arial"/>
              <a:buChar char="•"/>
            </a:pPr>
            <a:r>
              <a:rPr lang="en-US" sz="3966">
                <a:solidFill>
                  <a:srgbClr val="252930"/>
                </a:solidFill>
                <a:latin typeface="Roboto"/>
                <a:ea typeface="Roboto"/>
                <a:cs typeface="Roboto"/>
                <a:sym typeface="Roboto"/>
              </a:rPr>
              <a:t>Overall system tested for smooth operation and reliability</a:t>
            </a:r>
          </a:p>
          <a:p>
            <a:pPr algn="just">
              <a:lnSpc>
                <a:spcPts val="5552"/>
              </a:lnSpc>
            </a:pPr>
          </a:p>
          <a:p>
            <a:pPr algn="just">
              <a:lnSpc>
                <a:spcPts val="5552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0" y="8229600"/>
            <a:ext cx="516220" cy="2057400"/>
          </a:xfrm>
          <a:custGeom>
            <a:avLst/>
            <a:gdLst/>
            <a:ahLst/>
            <a:cxnLst/>
            <a:rect r="r" b="b" t="t" l="l"/>
            <a:pathLst>
              <a:path h="2057400" w="516220">
                <a:moveTo>
                  <a:pt x="0" y="0"/>
                </a:moveTo>
                <a:lnTo>
                  <a:pt x="516220" y="0"/>
                </a:lnTo>
                <a:lnTo>
                  <a:pt x="51622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571683" y="9258300"/>
            <a:ext cx="2716317" cy="1358159"/>
          </a:xfrm>
          <a:custGeom>
            <a:avLst/>
            <a:gdLst/>
            <a:ahLst/>
            <a:cxnLst/>
            <a:rect r="r" b="b" t="t" l="l"/>
            <a:pathLst>
              <a:path h="1358159" w="2716317">
                <a:moveTo>
                  <a:pt x="0" y="0"/>
                </a:moveTo>
                <a:lnTo>
                  <a:pt x="2716317" y="0"/>
                </a:lnTo>
                <a:lnTo>
                  <a:pt x="2716317" y="1358159"/>
                </a:lnTo>
                <a:lnTo>
                  <a:pt x="0" y="13581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354175" y="-12382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E6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202590" y="377419"/>
            <a:ext cx="10698832" cy="1569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12"/>
              </a:lnSpc>
            </a:pPr>
            <a:r>
              <a:rPr lang="en-US" sz="7266">
                <a:solidFill>
                  <a:srgbClr val="252930"/>
                </a:solidFill>
                <a:latin typeface="Roboto"/>
                <a:ea typeface="Roboto"/>
                <a:cs typeface="Roboto"/>
                <a:sym typeface="Roboto"/>
              </a:rPr>
              <a:t> WORK DONE  </a:t>
            </a:r>
          </a:p>
          <a:p>
            <a:pPr algn="ctr">
              <a:lnSpc>
                <a:spcPts val="5812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681464" y="1556143"/>
            <a:ext cx="13890218" cy="9852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52"/>
              </a:lnSpc>
            </a:pPr>
            <a:r>
              <a:rPr lang="en-US" sz="3966">
                <a:solidFill>
                  <a:srgbClr val="25293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3966" b="true">
                <a:solidFill>
                  <a:srgbClr val="252930"/>
                </a:solidFill>
                <a:latin typeface="Roboto Bold"/>
                <a:ea typeface="Roboto Bold"/>
                <a:cs typeface="Roboto Bold"/>
                <a:sym typeface="Roboto Bold"/>
              </a:rPr>
              <a:t>3) Software Development:-</a:t>
            </a:r>
          </a:p>
          <a:p>
            <a:pPr algn="just">
              <a:lnSpc>
                <a:spcPts val="5552"/>
              </a:lnSpc>
            </a:pPr>
            <a:r>
              <a:rPr lang="en-US" sz="3966" b="true">
                <a:solidFill>
                  <a:srgbClr val="252930"/>
                </a:solidFill>
                <a:latin typeface="Roboto Bold"/>
                <a:ea typeface="Roboto Bold"/>
                <a:cs typeface="Roboto Bold"/>
                <a:sym typeface="Roboto Bold"/>
              </a:rPr>
              <a:t>     </a:t>
            </a:r>
            <a:r>
              <a:rPr lang="en-US" sz="3966">
                <a:solidFill>
                  <a:srgbClr val="252930"/>
                </a:solidFill>
                <a:latin typeface="Roboto"/>
                <a:ea typeface="Roboto"/>
                <a:cs typeface="Roboto"/>
                <a:sym typeface="Roboto"/>
              </a:rPr>
              <a:t>Program organized into modular sections for:</a:t>
            </a:r>
          </a:p>
          <a:p>
            <a:pPr algn="just" marL="856326" indent="-428163" lvl="1">
              <a:lnSpc>
                <a:spcPts val="5552"/>
              </a:lnSpc>
              <a:buFont typeface="Arial"/>
              <a:buChar char="•"/>
            </a:pPr>
            <a:r>
              <a:rPr lang="en-US" sz="3966">
                <a:solidFill>
                  <a:srgbClr val="252930"/>
                </a:solidFill>
                <a:latin typeface="Roboto"/>
                <a:ea typeface="Roboto"/>
                <a:cs typeface="Roboto"/>
                <a:sym typeface="Roboto"/>
              </a:rPr>
              <a:t>Real-time clock reading</a:t>
            </a:r>
          </a:p>
          <a:p>
            <a:pPr algn="just" marL="856326" indent="-428163" lvl="1">
              <a:lnSpc>
                <a:spcPts val="5552"/>
              </a:lnSpc>
              <a:buFont typeface="Arial"/>
              <a:buChar char="•"/>
            </a:pPr>
            <a:r>
              <a:rPr lang="en-US" sz="3966">
                <a:solidFill>
                  <a:srgbClr val="252930"/>
                </a:solidFill>
                <a:latin typeface="Roboto"/>
                <a:ea typeface="Roboto"/>
                <a:cs typeface="Roboto"/>
                <a:sym typeface="Roboto"/>
              </a:rPr>
              <a:t>Alarm setting and scheduling</a:t>
            </a:r>
          </a:p>
          <a:p>
            <a:pPr algn="just" marL="856326" indent="-428163" lvl="1">
              <a:lnSpc>
                <a:spcPts val="5552"/>
              </a:lnSpc>
              <a:buFont typeface="Arial"/>
              <a:buChar char="•"/>
            </a:pPr>
            <a:r>
              <a:rPr lang="en-US" sz="3966">
                <a:solidFill>
                  <a:srgbClr val="252930"/>
                </a:solidFill>
                <a:latin typeface="Roboto"/>
                <a:ea typeface="Roboto"/>
                <a:cs typeface="Roboto"/>
                <a:sym typeface="Roboto"/>
              </a:rPr>
              <a:t>EEPROM-based storage of timings</a:t>
            </a:r>
          </a:p>
          <a:p>
            <a:pPr algn="just" marL="856326" indent="-428163" lvl="1">
              <a:lnSpc>
                <a:spcPts val="5552"/>
              </a:lnSpc>
              <a:buFont typeface="Arial"/>
              <a:buChar char="•"/>
            </a:pPr>
            <a:r>
              <a:rPr lang="en-US" sz="3966">
                <a:solidFill>
                  <a:srgbClr val="252930"/>
                </a:solidFill>
                <a:latin typeface="Roboto"/>
                <a:ea typeface="Roboto"/>
                <a:cs typeface="Roboto"/>
                <a:sym typeface="Roboto"/>
              </a:rPr>
              <a:t>Stepper motor rotation control</a:t>
            </a:r>
          </a:p>
          <a:p>
            <a:pPr algn="just" marL="856326" indent="-428163" lvl="1">
              <a:lnSpc>
                <a:spcPts val="5552"/>
              </a:lnSpc>
              <a:buFont typeface="Arial"/>
              <a:buChar char="•"/>
            </a:pPr>
            <a:r>
              <a:rPr lang="en-US" sz="3966">
                <a:solidFill>
                  <a:srgbClr val="252930"/>
                </a:solidFill>
                <a:latin typeface="Roboto"/>
                <a:ea typeface="Roboto"/>
                <a:cs typeface="Roboto"/>
                <a:sym typeface="Roboto"/>
              </a:rPr>
              <a:t>LED + buzzer alert routines</a:t>
            </a:r>
          </a:p>
          <a:p>
            <a:pPr algn="just">
              <a:lnSpc>
                <a:spcPts val="5552"/>
              </a:lnSpc>
            </a:pPr>
            <a:r>
              <a:rPr lang="en-US" sz="3966" b="true">
                <a:solidFill>
                  <a:srgbClr val="252930"/>
                </a:solidFill>
                <a:latin typeface="Roboto Bold"/>
                <a:ea typeface="Roboto Bold"/>
                <a:cs typeface="Roboto Bold"/>
                <a:sym typeface="Roboto Bold"/>
              </a:rPr>
              <a:t>4) Testing &amp; Verification :-</a:t>
            </a:r>
          </a:p>
          <a:p>
            <a:pPr algn="just" marL="856326" indent="-428163" lvl="1">
              <a:lnSpc>
                <a:spcPts val="5552"/>
              </a:lnSpc>
              <a:buFont typeface="Arial"/>
              <a:buChar char="•"/>
            </a:pPr>
            <a:r>
              <a:rPr lang="en-US" sz="3966">
                <a:solidFill>
                  <a:srgbClr val="252930"/>
                </a:solidFill>
                <a:latin typeface="Roboto"/>
                <a:ea typeface="Roboto"/>
                <a:cs typeface="Roboto"/>
                <a:sym typeface="Roboto"/>
              </a:rPr>
              <a:t>Stepper motor tested for repeated 90° rotations </a:t>
            </a:r>
          </a:p>
          <a:p>
            <a:pPr algn="just" marL="856326" indent="-428163" lvl="1">
              <a:lnSpc>
                <a:spcPts val="5552"/>
              </a:lnSpc>
              <a:buFont typeface="Arial"/>
              <a:buChar char="•"/>
            </a:pPr>
            <a:r>
              <a:rPr lang="en-US" sz="3966">
                <a:solidFill>
                  <a:srgbClr val="252930"/>
                </a:solidFill>
                <a:latin typeface="Roboto"/>
                <a:ea typeface="Roboto"/>
                <a:cs typeface="Roboto"/>
                <a:sym typeface="Roboto"/>
              </a:rPr>
              <a:t>EEPROM validated by power cycling to ensure alarm data is retained.</a:t>
            </a:r>
          </a:p>
          <a:p>
            <a:pPr algn="just" marL="856326" indent="-428163" lvl="1">
              <a:lnSpc>
                <a:spcPts val="5552"/>
              </a:lnSpc>
              <a:buFont typeface="Arial"/>
              <a:buChar char="•"/>
            </a:pPr>
            <a:r>
              <a:rPr lang="en-US" sz="3966">
                <a:solidFill>
                  <a:srgbClr val="252930"/>
                </a:solidFill>
                <a:latin typeface="Roboto"/>
                <a:ea typeface="Roboto"/>
                <a:cs typeface="Roboto"/>
                <a:sym typeface="Roboto"/>
              </a:rPr>
              <a:t>Overall system tested for smooth operation and reliability</a:t>
            </a:r>
          </a:p>
          <a:p>
            <a:pPr algn="just">
              <a:lnSpc>
                <a:spcPts val="5552"/>
              </a:lnSpc>
            </a:pPr>
          </a:p>
          <a:p>
            <a:pPr algn="just">
              <a:lnSpc>
                <a:spcPts val="5552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0" y="8229600"/>
            <a:ext cx="516220" cy="2057400"/>
          </a:xfrm>
          <a:custGeom>
            <a:avLst/>
            <a:gdLst/>
            <a:ahLst/>
            <a:cxnLst/>
            <a:rect r="r" b="b" t="t" l="l"/>
            <a:pathLst>
              <a:path h="2057400" w="516220">
                <a:moveTo>
                  <a:pt x="0" y="0"/>
                </a:moveTo>
                <a:lnTo>
                  <a:pt x="516220" y="0"/>
                </a:lnTo>
                <a:lnTo>
                  <a:pt x="51622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571683" y="9258300"/>
            <a:ext cx="2716317" cy="1358159"/>
          </a:xfrm>
          <a:custGeom>
            <a:avLst/>
            <a:gdLst/>
            <a:ahLst/>
            <a:cxnLst/>
            <a:rect r="r" b="b" t="t" l="l"/>
            <a:pathLst>
              <a:path h="1358159" w="2716317">
                <a:moveTo>
                  <a:pt x="0" y="0"/>
                </a:moveTo>
                <a:lnTo>
                  <a:pt x="2716317" y="0"/>
                </a:lnTo>
                <a:lnTo>
                  <a:pt x="2716317" y="1358159"/>
                </a:lnTo>
                <a:lnTo>
                  <a:pt x="0" y="13581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354175" y="-12382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E6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81562" y="928685"/>
            <a:ext cx="12522145" cy="835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12"/>
              </a:lnSpc>
            </a:pPr>
            <a:r>
              <a:rPr lang="en-US" sz="7266">
                <a:solidFill>
                  <a:srgbClr val="252930"/>
                </a:solidFill>
                <a:latin typeface="Roboto"/>
                <a:ea typeface="Roboto"/>
                <a:cs typeface="Roboto"/>
                <a:sym typeface="Roboto"/>
              </a:rPr>
              <a:t> RESULTS AND DISCUSSION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81562" y="2091870"/>
            <a:ext cx="13890218" cy="8343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56326" indent="-428163" lvl="1">
              <a:lnSpc>
                <a:spcPts val="5552"/>
              </a:lnSpc>
              <a:buFont typeface="Arial"/>
              <a:buChar char="•"/>
            </a:pPr>
            <a:r>
              <a:rPr lang="en-US" sz="3966">
                <a:solidFill>
                  <a:srgbClr val="252930"/>
                </a:solidFill>
                <a:latin typeface="Roboto"/>
                <a:ea typeface="Roboto"/>
                <a:cs typeface="Roboto"/>
                <a:sym typeface="Roboto"/>
              </a:rPr>
              <a:t>The system operated smoothly and consistently during all tests.</a:t>
            </a:r>
          </a:p>
          <a:p>
            <a:pPr algn="just" marL="856326" indent="-428163" lvl="1">
              <a:lnSpc>
                <a:spcPts val="5552"/>
              </a:lnSpc>
              <a:buFont typeface="Arial"/>
              <a:buChar char="•"/>
            </a:pPr>
            <a:r>
              <a:rPr lang="en-US" sz="3966">
                <a:solidFill>
                  <a:srgbClr val="252930"/>
                </a:solidFill>
                <a:latin typeface="Roboto"/>
                <a:ea typeface="Roboto"/>
                <a:cs typeface="Roboto"/>
                <a:sym typeface="Roboto"/>
              </a:rPr>
              <a:t>The DS3231 RTC provided highly accurate timekeeping with no drift observed.</a:t>
            </a:r>
          </a:p>
          <a:p>
            <a:pPr algn="just" marL="856326" indent="-428163" lvl="1">
              <a:lnSpc>
                <a:spcPts val="5552"/>
              </a:lnSpc>
              <a:buFont typeface="Arial"/>
              <a:buChar char="•"/>
            </a:pPr>
            <a:r>
              <a:rPr lang="en-US" sz="3966">
                <a:solidFill>
                  <a:srgbClr val="252930"/>
                </a:solidFill>
                <a:latin typeface="Roboto"/>
                <a:ea typeface="Roboto"/>
                <a:cs typeface="Roboto"/>
                <a:sym typeface="Roboto"/>
              </a:rPr>
              <a:t>The stepper motor delivered precise 90° rotations, ensuring correct compartment alignment every time.</a:t>
            </a:r>
          </a:p>
          <a:p>
            <a:pPr algn="just" marL="856326" indent="-428163" lvl="1">
              <a:lnSpc>
                <a:spcPts val="5552"/>
              </a:lnSpc>
              <a:buFont typeface="Arial"/>
              <a:buChar char="•"/>
            </a:pPr>
            <a:r>
              <a:rPr lang="en-US" sz="3966">
                <a:solidFill>
                  <a:srgbClr val="252930"/>
                </a:solidFill>
                <a:latin typeface="Roboto"/>
                <a:ea typeface="Roboto"/>
                <a:cs typeface="Roboto"/>
                <a:sym typeface="Roboto"/>
              </a:rPr>
              <a:t>LED indicators and the buzzer produced clear and immediate alerts, making the system easy for elderly users to understand.</a:t>
            </a:r>
          </a:p>
          <a:p>
            <a:pPr algn="just" marL="856326" indent="-428163" lvl="1">
              <a:lnSpc>
                <a:spcPts val="5552"/>
              </a:lnSpc>
              <a:buFont typeface="Arial"/>
              <a:buChar char="•"/>
            </a:pPr>
            <a:r>
              <a:rPr lang="en-US" sz="3966">
                <a:solidFill>
                  <a:srgbClr val="252930"/>
                </a:solidFill>
                <a:latin typeface="Roboto"/>
                <a:ea typeface="Roboto"/>
                <a:cs typeface="Roboto"/>
                <a:sym typeface="Roboto"/>
              </a:rPr>
              <a:t> Overall, the device proved to be reliable, low-cost, and practical for real-world household healthcare applications.</a:t>
            </a:r>
          </a:p>
          <a:p>
            <a:pPr algn="just">
              <a:lnSpc>
                <a:spcPts val="5552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0" y="8229600"/>
            <a:ext cx="516220" cy="2057400"/>
          </a:xfrm>
          <a:custGeom>
            <a:avLst/>
            <a:gdLst/>
            <a:ahLst/>
            <a:cxnLst/>
            <a:rect r="r" b="b" t="t" l="l"/>
            <a:pathLst>
              <a:path h="2057400" w="516220">
                <a:moveTo>
                  <a:pt x="0" y="0"/>
                </a:moveTo>
                <a:lnTo>
                  <a:pt x="516220" y="0"/>
                </a:lnTo>
                <a:lnTo>
                  <a:pt x="51622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12615" y="9077308"/>
            <a:ext cx="2716317" cy="1358159"/>
          </a:xfrm>
          <a:custGeom>
            <a:avLst/>
            <a:gdLst/>
            <a:ahLst/>
            <a:cxnLst/>
            <a:rect r="r" b="b" t="t" l="l"/>
            <a:pathLst>
              <a:path h="1358159" w="2716317">
                <a:moveTo>
                  <a:pt x="0" y="0"/>
                </a:moveTo>
                <a:lnTo>
                  <a:pt x="2716317" y="0"/>
                </a:lnTo>
                <a:lnTo>
                  <a:pt x="2716317" y="1358159"/>
                </a:lnTo>
                <a:lnTo>
                  <a:pt x="0" y="13581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354175" y="-12382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E6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924422" y="951195"/>
            <a:ext cx="12522145" cy="835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12"/>
              </a:lnSpc>
            </a:pPr>
            <a:r>
              <a:rPr lang="en-US" sz="7266">
                <a:solidFill>
                  <a:srgbClr val="252930"/>
                </a:solidFill>
                <a:latin typeface="Roboto"/>
                <a:ea typeface="Roboto"/>
                <a:cs typeface="Roboto"/>
                <a:sym typeface="Roboto"/>
              </a:rPr>
              <a:t> CONCLUSIONS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81562" y="2091870"/>
            <a:ext cx="13710138" cy="7647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56326" indent="-428163" lvl="1">
              <a:lnSpc>
                <a:spcPts val="5552"/>
              </a:lnSpc>
              <a:buFont typeface="Arial"/>
              <a:buChar char="•"/>
            </a:pPr>
            <a:r>
              <a:rPr lang="en-US" sz="3966">
                <a:solidFill>
                  <a:srgbClr val="252930"/>
                </a:solidFill>
                <a:latin typeface="Roboto"/>
                <a:ea typeface="Roboto"/>
                <a:cs typeface="Roboto"/>
                <a:sym typeface="Roboto"/>
              </a:rPr>
              <a:t>The Smart Automatic Medicine Dispenser successfully achieved its goal of providing a simple, accurate, and automated method for timely medication delivery. </a:t>
            </a:r>
          </a:p>
          <a:p>
            <a:pPr algn="just" marL="856326" indent="-428163" lvl="1">
              <a:lnSpc>
                <a:spcPts val="5552"/>
              </a:lnSpc>
              <a:buFont typeface="Arial"/>
              <a:buChar char="•"/>
            </a:pPr>
            <a:r>
              <a:rPr lang="en-US" sz="3966">
                <a:solidFill>
                  <a:srgbClr val="252930"/>
                </a:solidFill>
                <a:latin typeface="Roboto"/>
                <a:ea typeface="Roboto"/>
                <a:cs typeface="Roboto"/>
                <a:sym typeface="Roboto"/>
              </a:rPr>
              <a:t>The system proved to be easy to use, cost-effective, and fully offline, making it suitable for elderly users and households without internet access.</a:t>
            </a:r>
          </a:p>
          <a:p>
            <a:pPr algn="just" marL="856326" indent="-428163" lvl="1">
              <a:lnSpc>
                <a:spcPts val="5552"/>
              </a:lnSpc>
              <a:buFont typeface="Arial"/>
              <a:buChar char="•"/>
            </a:pPr>
            <a:r>
              <a:rPr lang="en-US" sz="3966">
                <a:solidFill>
                  <a:srgbClr val="252930"/>
                </a:solidFill>
                <a:latin typeface="Roboto"/>
                <a:ea typeface="Roboto"/>
                <a:cs typeface="Roboto"/>
                <a:sym typeface="Roboto"/>
              </a:rPr>
              <a:t>The project demonstrates how embedded systems can offer practical healthcare solutions and can be further expanded with GSM, IoT, or additional compartments in the future.</a:t>
            </a:r>
          </a:p>
          <a:p>
            <a:pPr algn="just">
              <a:lnSpc>
                <a:spcPts val="5552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0" y="8229600"/>
            <a:ext cx="516220" cy="2057400"/>
          </a:xfrm>
          <a:custGeom>
            <a:avLst/>
            <a:gdLst/>
            <a:ahLst/>
            <a:cxnLst/>
            <a:rect r="r" b="b" t="t" l="l"/>
            <a:pathLst>
              <a:path h="2057400" w="516220">
                <a:moveTo>
                  <a:pt x="0" y="0"/>
                </a:moveTo>
                <a:lnTo>
                  <a:pt x="516220" y="0"/>
                </a:lnTo>
                <a:lnTo>
                  <a:pt x="51622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12615" y="9077308"/>
            <a:ext cx="2716317" cy="1358159"/>
          </a:xfrm>
          <a:custGeom>
            <a:avLst/>
            <a:gdLst/>
            <a:ahLst/>
            <a:cxnLst/>
            <a:rect r="r" b="b" t="t" l="l"/>
            <a:pathLst>
              <a:path h="1358159" w="2716317">
                <a:moveTo>
                  <a:pt x="0" y="0"/>
                </a:moveTo>
                <a:lnTo>
                  <a:pt x="2716317" y="0"/>
                </a:lnTo>
                <a:lnTo>
                  <a:pt x="2716317" y="1358159"/>
                </a:lnTo>
                <a:lnTo>
                  <a:pt x="0" y="13581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354175" y="-12382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E6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8781" y="7059062"/>
            <a:ext cx="809919" cy="3227938"/>
          </a:xfrm>
          <a:custGeom>
            <a:avLst/>
            <a:gdLst/>
            <a:ahLst/>
            <a:cxnLst/>
            <a:rect r="r" b="b" t="t" l="l"/>
            <a:pathLst>
              <a:path h="3227938" w="809919">
                <a:moveTo>
                  <a:pt x="0" y="0"/>
                </a:moveTo>
                <a:lnTo>
                  <a:pt x="809919" y="0"/>
                </a:lnTo>
                <a:lnTo>
                  <a:pt x="809919" y="3227938"/>
                </a:lnTo>
                <a:lnTo>
                  <a:pt x="0" y="32279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13969" y="8304597"/>
            <a:ext cx="4261740" cy="2130870"/>
          </a:xfrm>
          <a:custGeom>
            <a:avLst/>
            <a:gdLst/>
            <a:ahLst/>
            <a:cxnLst/>
            <a:rect r="r" b="b" t="t" l="l"/>
            <a:pathLst>
              <a:path h="2130870" w="4261740">
                <a:moveTo>
                  <a:pt x="0" y="0"/>
                </a:moveTo>
                <a:lnTo>
                  <a:pt x="4261740" y="0"/>
                </a:lnTo>
                <a:lnTo>
                  <a:pt x="4261740" y="2130870"/>
                </a:lnTo>
                <a:lnTo>
                  <a:pt x="0" y="21308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17259300" y="0"/>
            <a:ext cx="809919" cy="3227938"/>
          </a:xfrm>
          <a:custGeom>
            <a:avLst/>
            <a:gdLst/>
            <a:ahLst/>
            <a:cxnLst/>
            <a:rect r="r" b="b" t="t" l="l"/>
            <a:pathLst>
              <a:path h="3227938" w="809919">
                <a:moveTo>
                  <a:pt x="0" y="0"/>
                </a:moveTo>
                <a:lnTo>
                  <a:pt x="809919" y="0"/>
                </a:lnTo>
                <a:lnTo>
                  <a:pt x="809919" y="3227938"/>
                </a:lnTo>
                <a:lnTo>
                  <a:pt x="0" y="32279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2517066" y="-114300"/>
            <a:ext cx="4261740" cy="2130870"/>
          </a:xfrm>
          <a:custGeom>
            <a:avLst/>
            <a:gdLst/>
            <a:ahLst/>
            <a:cxnLst/>
            <a:rect r="r" b="b" t="t" l="l"/>
            <a:pathLst>
              <a:path h="2130870" w="4261740">
                <a:moveTo>
                  <a:pt x="0" y="0"/>
                </a:moveTo>
                <a:lnTo>
                  <a:pt x="4261740" y="0"/>
                </a:lnTo>
                <a:lnTo>
                  <a:pt x="4261740" y="2130870"/>
                </a:lnTo>
                <a:lnTo>
                  <a:pt x="0" y="21308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744839" y="4668380"/>
            <a:ext cx="10216450" cy="1416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41"/>
              </a:lnSpc>
            </a:pPr>
            <a:r>
              <a:rPr lang="en-US" sz="12426">
                <a:solidFill>
                  <a:srgbClr val="252D37"/>
                </a:solidFill>
                <a:latin typeface="Leckerli One"/>
                <a:ea typeface="Leckerli One"/>
                <a:cs typeface="Leckerli One"/>
                <a:sym typeface="Leckerli One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DAG3jVbibek</dc:identifier>
  <dcterms:modified xsi:type="dcterms:W3CDTF">2011-08-01T06:04:30Z</dcterms:modified>
  <cp:revision>1</cp:revision>
  <dc:title>Smart Medicine Reminder and Dispenser</dc:title>
</cp:coreProperties>
</file>